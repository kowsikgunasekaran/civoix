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320040"/>
            <a:ext cx="6135624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1F5F9"/>
                </a:solidFill>
              </a:rPr>
              <a:t>BRICS AI CHALLENGE 2026  ·  TRACK 1  ·  AI FOR DIGITAL PUBLIC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6366F1"/>
                </a:solidFill>
              </a:rPr>
              <a:t>PragatiLoop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1F5F9"/>
                </a:solidFill>
              </a:rPr>
              <a:t>Closed-Loop Citizen Demand-to-Impact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204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94A3B8"/>
                </a:solidFill>
              </a:rPr>
              <a:t>"From the citizen's voice to the built road — and back again."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97680"/>
            <a:ext cx="11274552" cy="137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🌐  Digital Public Good · Apache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🤖  100% Google Technology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🇮🇳  5 BRICS Nations · 3.4B Citizens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</a:rPr>
              <a:t>The Governance Gap That Costs Billions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840480" cy="5029200"/>
          </a:xfrm>
          <a:prstGeom prst="rect">
            <a:avLst/>
          </a:prstGeom>
          <a:solidFill>
            <a:srgbClr val="0D1117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3F5E"/>
                </a:solidFill>
              </a:rPr>
              <a:t>Citizens Shout Into the Void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Complaints about broken roads, blocked drains, failing clinics go unanswered. No tracking. No resolution. No feedback.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297680"/>
            <a:ext cx="35661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3F5E"/>
                </a:solidFill>
              </a:rPr>
              <a:t>68% of civic complaints
never resolved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005840"/>
            <a:ext cx="3840480" cy="502920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97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🗄️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691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Infrastructure Data Lives in Silos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2860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Census, infra-gap indices, and budget lines exist separately. No system joins them with citizen demand to find where to invest.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4297680"/>
            <a:ext cx="35661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434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₹3.4 trillion annual infra
spend — sub-optimally targeted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005840"/>
            <a:ext cx="3840480" cy="5029200"/>
          </a:xfrm>
          <a:prstGeom prst="rect">
            <a:avLst/>
          </a:prstGeom>
          <a:solidFill>
            <a:srgbClr val="0D111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1097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1691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The Loop Never Closes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22860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Even completed projects are never connected back to citizens who requested them. No feedback. No impact measurement. No learning.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4297680"/>
            <a:ext cx="35661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434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Only 12% of citizens know
what happened to their complaint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172200"/>
            <a:ext cx="11430000" cy="411480"/>
          </a:xfrm>
          <a:prstGeom prst="rect">
            <a:avLst/>
          </a:prstGeom>
          <a:solidFill>
            <a:srgbClr val="4526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⚡  This is not a data problem. It is an alignment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</a:rPr>
              <a:t>PragatiLoop Closes the Loop in 6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Powered entirely by Google AI · Open source · Sovereign-ready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2194560"/>
          </a:xfrm>
          <a:prstGeom prst="rect">
            <a:avLst/>
          </a:prstGeom>
          <a:solidFill>
            <a:srgbClr val="0D111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813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CITIZEN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Voice · IVR · SMS · RCS
Any language, any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2194560"/>
          </a:xfrm>
          <a:prstGeom prst="rect">
            <a:avLst/>
          </a:prstGeom>
          <a:solidFill>
            <a:srgbClr val="0D111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146304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4813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AI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659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Gemini Flash · Speech-to-Text
8-step pipeline · 94%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657600" cy="2194560"/>
          </a:xfrm>
          <a:prstGeom prst="rect">
            <a:avLst/>
          </a:prstGeom>
          <a:solidFill>
            <a:srgbClr val="0D111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146304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4813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DATA 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9659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Census + InfraGap + Budget
Ward-level administrative join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3657600" cy="2194560"/>
          </a:xfrm>
          <a:prstGeom prst="rect">
            <a:avLst/>
          </a:prstGeom>
          <a:solidFill>
            <a:srgbClr val="0D111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4023359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416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POLICY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262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Explainable ranking · Equity weights
Budget simulation · 1-click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754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931920"/>
            <a:ext cx="3657600" cy="2194560"/>
          </a:xfrm>
          <a:prstGeom prst="rect">
            <a:avLst/>
          </a:prstGeom>
          <a:solidFill>
            <a:srgbClr val="0D111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89120" y="4023359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0416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PROJECT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5262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Kanban lifecycle · Evidence upload
Field verification · Contractor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754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931920"/>
            <a:ext cx="3657600" cy="2194560"/>
          </a:xfrm>
          <a:prstGeom prst="rect">
            <a:avLst/>
          </a:prstGeom>
          <a:solidFill>
            <a:srgbClr val="0D111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21040" y="4023359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0416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IMPACT &amp; TRUST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5262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Citizen notified · Confirms improvement
Learning signal feeds next AI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</a:rPr>
              <a:t>100% Google Technology · Sovereign &amp;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No proprietary lock-in · Every service has an open-source equivalent · Apache 2.0 licensed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🎙️ Cloud Speech-to-Text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Transcribes voice in 12 languages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65760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🌐 Cloud Translation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Language detection + translation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80160"/>
            <a:ext cx="365760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🧠 Gemini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8745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Intent classification + AI rationale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26080"/>
            <a:ext cx="365760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📍 Maps Geocoding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204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Ward/district location resolution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926080"/>
            <a:ext cx="365760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⚡ Vertex AI 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204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Semantic vectors for similarity clustering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926080"/>
            <a:ext cx="365760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🔍 Vertex AI Vector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5204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Groups 10,000s of requests into hotspot clusters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72000"/>
            <a:ext cx="365760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663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💬 Firebase / RCS Business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1663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Real-time multilingual citizen notifications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4572000"/>
            <a:ext cx="365760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663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☁️ Cloud 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1663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Serverless auto-scaling backend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572000"/>
            <a:ext cx="365760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4663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📊 Looker Studio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51663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Government analytics and reporting dashboards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solidFill>
            <a:srgbClr val="062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373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✅  All data processed on Google Cloud India region  ·  No PII crosses sovereign boundaries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</a:rPr>
              <a:t>12 Integrated Modules · Four Governance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011680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904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</a:rPr>
              <a:t>CITIZEN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234440"/>
            <a:ext cx="9144000" cy="1005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490472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M1  AwaazFirst Ingestion  ·  M2  AI Understanding Pipeline  ·  M9  Citizen Trust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2011680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</a:rPr>
              <a:t>AI &amp; DATA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468880"/>
            <a:ext cx="9144000" cy="1005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724912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M3  Hotspot Detection  ·  M4  GyanSetu Data Fusion  ·  M12  SatyaGuard Integrity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03320"/>
            <a:ext cx="201168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95935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</a:rPr>
              <a:t>POLICYMAKER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703320"/>
            <a:ext cx="9144000" cy="1005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3959352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M5  SpandanScore Prioritization  ·  M6  PragatiLoop Lifecycle Spine  ·  M8  Decision Cockpit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201168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19379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</a:rPr>
              <a:t>GOVERNANCE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4937760"/>
            <a:ext cx="9144000" cy="1005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5193792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M7  Impact Measurement Engine  ·  M10  BRICS Federation Protocol  ·  M11  Immutable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5 nations  ·  12 languages  ·  0 PII shared  ·  100% auditable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1161288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1F5F9"/>
                </a:solidFill>
              </a:rPr>
              <a:t>MODULE 1 + 2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201168"/>
            <a:ext cx="1005840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1F5F9"/>
                </a:solidFill>
              </a:rPr>
              <a:t>AwaazFirst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AwaazFirst — Any Citizen, Any Language, Any Channel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60604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📞 Voice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Gemini transcribes
&amp; classifies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417320"/>
            <a:ext cx="260604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📱 IVR 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4-step accessible
phone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417320"/>
            <a:ext cx="260604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💬 SMS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NLP extraction
no smartphone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417320"/>
            <a:ext cx="260604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🌐 Web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Direct structured
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8-Step AI Pipeline (Gemini + Vertex AI)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1280160" cy="640080"/>
          </a:xfrm>
          <a:prstGeom prst="rect">
            <a:avLst/>
          </a:prstGeom>
          <a:solidFill>
            <a:srgbClr val="0D111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53872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1F5F9"/>
                </a:solidFill>
              </a:rPr>
              <a:t>🎙️ Transcribe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7" y="36576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366F1"/>
                </a:solidFill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3474720"/>
            <a:ext cx="1280160" cy="640080"/>
          </a:xfrm>
          <a:prstGeom prst="rect">
            <a:avLst/>
          </a:prstGeom>
          <a:solidFill>
            <a:srgbClr val="0D111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353872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1F5F9"/>
                </a:solidFill>
              </a:rPr>
              <a:t>🌐 Detect Lang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81528" y="36576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366F1"/>
                </a:solidFill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474720"/>
            <a:ext cx="1280160" cy="640080"/>
          </a:xfrm>
          <a:prstGeom prst="rect">
            <a:avLst/>
          </a:prstGeom>
          <a:solidFill>
            <a:srgbClr val="0D111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353872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1F5F9"/>
                </a:solidFill>
              </a:rPr>
              <a:t>🔄 Translate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36576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366F1"/>
                </a:solidFill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3474720"/>
            <a:ext cx="1280160" cy="640080"/>
          </a:xfrm>
          <a:prstGeom prst="rect">
            <a:avLst/>
          </a:prstGeom>
          <a:solidFill>
            <a:srgbClr val="0D111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353872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1F5F9"/>
                </a:solidFill>
              </a:rPr>
              <a:t>🧠 Classify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6168" y="36576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366F1"/>
                </a:solidFill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474720"/>
            <a:ext cx="1280160" cy="640080"/>
          </a:xfrm>
          <a:prstGeom prst="rect">
            <a:avLst/>
          </a:prstGeom>
          <a:solidFill>
            <a:srgbClr val="0D111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353872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1F5F9"/>
                </a:solidFill>
              </a:rPr>
              <a:t>🔍 Extract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3488" y="36576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366F1"/>
                </a:solidFill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3474720"/>
            <a:ext cx="1280160" cy="640080"/>
          </a:xfrm>
          <a:prstGeom prst="rect">
            <a:avLst/>
          </a:prstGeom>
          <a:solidFill>
            <a:srgbClr val="0D111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0" y="353872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1F5F9"/>
                </a:solidFill>
              </a:rPr>
              <a:t>📍 Geo-Resolve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0808" y="36576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366F1"/>
                </a:solidFill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680" y="3474720"/>
            <a:ext cx="1280160" cy="640080"/>
          </a:xfrm>
          <a:prstGeom prst="rect">
            <a:avLst/>
          </a:prstGeom>
          <a:solidFill>
            <a:srgbClr val="0D111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400" y="353872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1F5F9"/>
                </a:solidFill>
              </a:rPr>
              <a:t>⚡ Embed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8128" y="36576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366F1"/>
                </a:solidFill>
              </a:rPr>
              <a:t>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87000" y="3474720"/>
            <a:ext cx="1280160" cy="640080"/>
          </a:xfrm>
          <a:prstGeom prst="rect">
            <a:avLst/>
          </a:prstGeom>
          <a:solidFill>
            <a:srgbClr val="0D111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720" y="353872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1F5F9"/>
                </a:solidFill>
              </a:rPr>
              <a:t>🔥 Cluster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297680"/>
            <a:ext cx="11384280" cy="169164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3708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6B6D4"/>
                </a:solidFill>
              </a:rPr>
              <a:t>"எங்கள் தெருவில் வடிகால் அடைத்துக்கொண்டுள்ளது"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7731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→  "The drain on our street is blocked"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166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DRAINAGE  ·  Mylapore West, Chennai  ·  Severity 4/5  ·  Confidence 94%  ·  Status: Clustered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🔒 Privacy-first: no names stored  ·  citizen hash only  ·  reference ID for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85039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E293B"/>
                </a:solidFill>
              </a:rPr>
              <a:t>MODULE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5880" y="201168"/>
            <a:ext cx="850392" cy="256032"/>
          </a:xfrm>
          <a:prstGeom prst="rect">
            <a:avLst/>
          </a:prstGeom>
          <a:solidFill>
            <a:srgbClr val="0E3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1F5F9"/>
                </a:solidFill>
              </a:rPr>
              <a:t>GyanSetu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GyanSetu — Aligning Citizen Voice with National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92024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087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</a:rPr>
              <a:t>Census 2021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11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28,000
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366F1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417320"/>
            <a:ext cx="192024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15087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NITI Aayog
Infra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011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5,400
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417320"/>
            <a:ext cx="192024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15087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Union Budget
FY2026-27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011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892
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1417320"/>
            <a:ext cx="192024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7" y="15087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Admin
Boundaries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2011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7,234
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B6D4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3063240"/>
            <a:ext cx="6858000" cy="6400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312724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WARD-LEVEL ADMINISTRATIVE JOIN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4251960"/>
            <a:ext cx="6858000" cy="1097280"/>
          </a:xfrm>
          <a:prstGeom prst="rect">
            <a:avLst/>
          </a:prstGeom>
          <a:solidFill>
            <a:srgbClr val="062F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43159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CandidateProject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7091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Demand Intensity  +  Infrastructure Gap  +  Demographics  +  Budget Headroom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577840"/>
            <a:ext cx="11430000" cy="9601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6509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Example:  Mylapore West · Drainage · 342 requests · InfraGap 0.85 (critical) · Vuln 0.72 · Budget ₹14Cr headroom · Est cost ₹3.2Cr  ✅ Feasible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📌 Reproducible — any auditor can recreate this join from open government datasets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85039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E293B"/>
                </a:solidFill>
              </a:rPr>
              <a:t>MODULE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"/>
            <a:ext cx="1161288" cy="256032"/>
          </a:xfrm>
          <a:prstGeom prst="rect">
            <a:avLst/>
          </a:prstGeom>
          <a:solidFill>
            <a:srgbClr val="3F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1F5F9"/>
                </a:solidFill>
              </a:rPr>
              <a:t>SpandanScore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</a:rPr>
              <a:t>SpandanScore — Every Ranking is Explainable and Auditable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6858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371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What it measures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6858000" cy="5943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F1"/>
                </a:solidFill>
              </a:rPr>
              <a:t>Demand Intensity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8288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</a:rPr>
              <a:t>0.7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How loudly citizens are asking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965960"/>
            <a:ext cx="1152144" cy="1645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404872"/>
            <a:ext cx="6858000" cy="59436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4963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Infra-Gap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49631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</a:rPr>
              <a:t>0.8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4963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Objective infrastructure deficiency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2633472"/>
            <a:ext cx="1316736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072384"/>
            <a:ext cx="6858000" cy="5943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16382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Equity Weight 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16382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</a:rPr>
              <a:t>0.9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16382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Boost for under-served populations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3300984"/>
            <a:ext cx="1481328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739896"/>
            <a:ext cx="6858000" cy="59436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31335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B6D4"/>
                </a:solidFill>
              </a:rPr>
              <a:t>Budget Feasibility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831335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</a:rPr>
              <a:t>0.6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831335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Fit within available budget 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3968496"/>
            <a:ext cx="987552" cy="1645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407408"/>
            <a:ext cx="6858000" cy="5943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49884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5CF6"/>
                </a:solidFill>
              </a:rPr>
              <a:t>Impact Potential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449884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</a:rPr>
              <a:t>0.7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44988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Beneficiaries per unit cost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7560" y="4636008"/>
            <a:ext cx="1152144" cy="1645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5074920"/>
            <a:ext cx="6858000" cy="59436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16635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3F5E"/>
                </a:solidFill>
              </a:rPr>
              <a:t>Redundancy Penalty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5166359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</a:rPr>
              <a:t>0.5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51663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Penalise overlapping funded projects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37560" y="5303520"/>
            <a:ext cx="822960" cy="1645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8079" y="1325880"/>
            <a:ext cx="4389120" cy="5349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14173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Why Explainability Matters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19659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✅  Numbers govern — not a black box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262432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✅  Policymaker drags sliders, re-ranks 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3282696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✅  Gemini narrates rationale in plain language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3941064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✅  Every weight change written to audit log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4599431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✅  NeetiSim: simulate budget cap impact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2578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✅  Equity Weight protects vulnerable wards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solidFill>
            <a:srgbClr val="3F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309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9E0B"/>
                </a:solidFill>
              </a:rPr>
              <a:t>Try:  Set Equity Weight to 0.0 → wealthy wards rise.  Set to 1.0 → vulnerable wards rise.  This is explainable 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85039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E293B"/>
                </a:solidFill>
              </a:rPr>
              <a:t>MODULE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"/>
            <a:ext cx="1549908" cy="256032"/>
          </a:xfrm>
          <a:prstGeom prst="rect">
            <a:avLst/>
          </a:prstGeom>
          <a:solidFill>
            <a:srgbClr val="062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1F5F9"/>
                </a:solidFill>
              </a:rPr>
              <a:t>PragatiLoop Spine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PragatiLoop Spine — From Sanction to Verified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05740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20574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</a:rPr>
              <a:t>SANCTIONED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366F1"/>
                </a:solidFill>
              </a:rPr>
              <a:t>Apr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8745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Policymaker
approved via
Cockpit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1" y="2514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366F1"/>
                </a:solidFill>
              </a:rPr>
              <a:t>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79" y="1325880"/>
            <a:ext cx="205740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79" y="1325880"/>
            <a:ext cx="20574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199" y="1371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</a:rPr>
              <a:t>TENDERED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9" y="18288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</a:rPr>
              <a:t>Apr 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240280"/>
            <a:ext cx="18745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3 contractor
bids issued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2514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325880"/>
            <a:ext cx="205740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1325880"/>
            <a:ext cx="20574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1371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</a:rPr>
              <a:t>IN-PROGRESS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8288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B6D4"/>
                </a:solidFill>
              </a:rPr>
              <a:t>May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240280"/>
            <a:ext cx="18745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Excavation
started;
Block A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1" y="2514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19" y="1325880"/>
            <a:ext cx="205740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19" y="1325880"/>
            <a:ext cx="20574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1371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</a:rPr>
              <a:t>COMPLETED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8288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Jul 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59" y="2240280"/>
            <a:ext cx="18745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All 4 blocks
complete;
drain restored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5751" y="2514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1325880"/>
            <a:ext cx="205740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92640" y="1325880"/>
            <a:ext cx="20574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60" y="1371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</a:rPr>
              <a:t>VERIFIED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18288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5CF6"/>
                </a:solidFill>
              </a:rPr>
              <a:t>Aug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240280"/>
            <a:ext cx="18745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Field officer
verified;
citizen confirmed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</a:rPr>
              <a:t>PRJ-001 · Mylapore West Drainage Rehabilitation  ·  ₹12Cr  ·  8,200 beneficiaries  ·  Impact Score: 86%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166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📋 Kanban view — drag cards across lifecycle stages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166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📊 Gantt timeline — visual progress vs target dates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5166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📷 Evidence upload — contractor field photos per 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806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⚠️ Delay risk scoring — auto-flag if behind schedule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806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🔒 Full audit trail — every change timestamped + attributed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928116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1F5F9"/>
                </a:solidFill>
              </a:rPr>
              <a:t>MODULE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1168"/>
            <a:ext cx="1005840" cy="256032"/>
          </a:xfrm>
          <a:prstGeom prst="rect">
            <a:avLst/>
          </a:prstGeom>
          <a:solidFill>
            <a:srgbClr val="3F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1F5F9"/>
                </a:solidFill>
              </a:rPr>
              <a:t>SatyaGuard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SatyaGuard — Protecting Genuine Civic Demand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0574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4A3B8"/>
                </a:solidFill>
              </a:rPr>
              <a:t>14,823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Requests Scanned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1325880"/>
            <a:ext cx="20574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38988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156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874519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Flagged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325880"/>
            <a:ext cx="20574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38988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3F5E"/>
                </a:solidFill>
              </a:rPr>
              <a:t>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874519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Quarantined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19" y="1325880"/>
            <a:ext cx="20574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59" y="138988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1874519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Cleared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1325880"/>
            <a:ext cx="20574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38988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B6D4"/>
                </a:solidFill>
              </a:rPr>
              <a:t>&lt;1%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1874519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False Positive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5 Detection Patterns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71800"/>
            <a:ext cx="68580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0449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3F5E"/>
                </a:solidFill>
              </a:rPr>
              <a:t>🌊 BURST_VELOCITY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04495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200 identical requests in 4 minutes from coordinated IPs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39312"/>
            <a:ext cx="68580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12463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📋 TEMPLATE_IDENTICAL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712463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Copy-paste bot campaigns — 97% similarity score across requests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306824"/>
            <a:ext cx="68580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37997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📱 DEVICE_ANOMALY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37997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180 requests from 3 IP addresses — single coordinated actor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974336"/>
            <a:ext cx="68580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0474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🗺️ IMPLAUSIBLE_GEO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504748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IP in Delhi claiming to report a Chennai ward drainage issue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641848"/>
            <a:ext cx="68580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715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🕸️ COORDINATED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7150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Activity synchronized minute-by-minute with social media campaign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2514600"/>
            <a:ext cx="4480560" cy="4023360"/>
          </a:xfrm>
          <a:prstGeom prst="rect">
            <a:avLst/>
          </a:prstGeom>
          <a:solidFill>
            <a:srgbClr val="3F28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2606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Our Principle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31546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✅  Quarantined NOT deleted
— fully reversible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904488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✅  Every decision logged
and auditable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654296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✅  False positives tracked
and minimised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5404104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✅  Genuine civic voice
always protected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3F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437376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3F5E"/>
                </a:solidFill>
              </a:rPr>
              <a:t>"The system must protect real citizens who cannot organize — not penalize those who can."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1161288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E293B"/>
                </a:solidFill>
              </a:rPr>
              <a:t>MODULE 7 + 9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Closing the Loop — Measurement + Citizen Confirmation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03520" cy="3200400"/>
          </a:xfrm>
          <a:prstGeom prst="rect">
            <a:avLst/>
          </a:prstGeom>
          <a:solidFill>
            <a:srgbClr val="2D0610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BEFORE — Mylapore West Drainage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342 requests/week about flooding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Sentiment: 22% positive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34640"/>
            <a:ext cx="4754880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1046073" cy="2286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3F5E"/>
                </a:solidFill>
              </a:rPr>
              <a:t>22%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325880"/>
            <a:ext cx="5486400" cy="3200400"/>
          </a:xfrm>
          <a:prstGeom prst="rect">
            <a:avLst/>
          </a:prstGeom>
          <a:solidFill>
            <a:srgbClr val="062F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AFTER — Project 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12 requests/week (96% reduction)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31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Sentiment: 78% positive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834640"/>
            <a:ext cx="5120640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834640"/>
            <a:ext cx="3994099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78%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83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Impact Score: 86%  ·  8,200 beneficiaries reached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Citizen Trust Loop (Module 9)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66360"/>
            <a:ext cx="1691640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5230368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366F1"/>
                </a:solidFill>
              </a:rPr>
              <a:t>📝 1,247
Submitted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5577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366F1"/>
                </a:solidFill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5166360"/>
            <a:ext cx="1691640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9152" y="5230368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5CF6"/>
                </a:solidFill>
              </a:rPr>
              <a:t>✅ 891
Approved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5072" y="5577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5CF6"/>
                </a:solidFill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5166360"/>
            <a:ext cx="1691640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9392" y="5230368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</a:rPr>
              <a:t>🚧 740
Completed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5312" y="5577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5166360"/>
            <a:ext cx="1691640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5230368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B6D4"/>
                </a:solidFill>
              </a:rPr>
              <a:t>🔔 740
Notified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5552" y="5577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B6D4"/>
                </a:solidFill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5166360"/>
            <a:ext cx="1691640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9872" y="5230368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✅ 528
Confirmed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5577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0B981"/>
                </a:solidFill>
              </a:rPr>
              <a:t>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5166360"/>
            <a:ext cx="1691640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40112" y="5230368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B6D4"/>
                </a:solidFill>
              </a:rPr>
              <a:t>🔄 Loop
Closed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Loop Closure Rate: 71.4%  ·  The only civic platform that measures what actually changed for real citizens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928116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1F5F9"/>
                </a:solidFill>
              </a:rPr>
              <a:t>MODULE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1168"/>
            <a:ext cx="2171700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1F5F9"/>
                </a:solidFill>
              </a:rPr>
              <a:t>BRICS Federation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BRICS-Ready Federation — No Raw Data Crosses Borders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990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🇮🇳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43560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ACTIVE · Google Cloud Mumbai · 12,847 requests · 8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54864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50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🇧🇷 Brazil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4871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ACTIVE · Google Cloud São Paulo · 8,432 requests · 5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29000"/>
            <a:ext cx="54864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02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🇨🇳 China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5387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ACTIVE · Compliant Cloud Beijing · 21,034 requests · 9 models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54864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537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🇷🇺 Russia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5902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PLANNED · Phase 2 · 2027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66360"/>
            <a:ext cx="54864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2395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🇿🇦 South Africa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2760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PLANNED · Phase 2 · 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325880"/>
            <a:ext cx="5577840" cy="4572000"/>
          </a:xfrm>
          <a:prstGeom prst="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Federation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92024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INDIA NODE                    BRAZIL NODE
──────────────                ──────────────
Local citizen data            Local citizen data
Local model trained           Local model trained
       ↓                              ↓
  Δ params only  ──────────►  Model improved
  (142K params)               without seeing
  No PII / No raw             any Indian data
  request 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02920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  Model parameter deltas (not raw data)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28523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  Shared taxonomy schema (7 categories)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54126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  Anonymous impact benchmarks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79729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3F5E"/>
                </a:solidFill>
              </a:rPr>
              <a:t>❌  No raw citizen 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0533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3F5E"/>
                </a:solidFill>
              </a:rPr>
              <a:t>❌  No location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30936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3F5E"/>
                </a:solidFill>
              </a:rPr>
              <a:t>❌  No PII of any kind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636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Apache 2.0 · DPGA aligned · Sovereign-compatible · OpenAPI spec published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</a:rPr>
              <a:t>Live Interactive Demo — All 12 Modules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http://localhost:3000  ·  All data synthetic &amp; clearly labelled  ·  No credentials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577840" cy="914400"/>
          </a:xfrm>
          <a:prstGeom prst="rect">
            <a:avLst/>
          </a:prstGeom>
          <a:solidFill>
            <a:srgbClr val="0D1117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389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M1-12 Landing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013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Animated loop · Live stats counter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577840" cy="914400"/>
          </a:xfrm>
          <a:prstGeom prst="rect">
            <a:avLst/>
          </a:prstGeom>
          <a:solidFill>
            <a:srgbClr val="0D1117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898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/citizen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389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M1 + 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Submit voice → 8-step AI pipeline → Track A4213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77439"/>
            <a:ext cx="5577840" cy="914400"/>
          </a:xfrm>
          <a:prstGeom prst="rect">
            <a:avLst/>
          </a:prstGeom>
          <a:solidFill>
            <a:srgbClr val="0D1117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4144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/data-fusion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44144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5292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Click fused project row → expand demographics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377439"/>
            <a:ext cx="5577840" cy="914400"/>
          </a:xfrm>
          <a:prstGeom prst="rect">
            <a:avLst/>
          </a:prstGeom>
          <a:solidFill>
            <a:srgbClr val="0D1117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44144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3F5E"/>
                </a:solidFill>
              </a:rPr>
              <a:t>/integrity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44144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5292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Click anomaly row → evidence + quarantine 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29000"/>
            <a:ext cx="5577840" cy="914400"/>
          </a:xfrm>
          <a:prstGeom prst="rect">
            <a:avLst/>
          </a:prstGeom>
          <a:solidFill>
            <a:srgbClr val="0D1117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/cockpit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493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M3 + M5 + M8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90448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Drag equity weight slider → live re-ranking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429000"/>
            <a:ext cx="5577840" cy="914400"/>
          </a:xfrm>
          <a:prstGeom prst="rect">
            <a:avLst/>
          </a:prstGeom>
          <a:solidFill>
            <a:srgbClr val="0D1117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/lifecycle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493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0448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Advance project → Gantt 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80559"/>
            <a:ext cx="5577840" cy="914400"/>
          </a:xfrm>
          <a:prstGeom prst="rect">
            <a:avLst/>
          </a:prstGeom>
          <a:solidFill>
            <a:srgbClr val="0D1117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544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/impact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544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9560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Before/after sentiment · Learning signal panel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480559"/>
            <a:ext cx="5577840" cy="914400"/>
          </a:xfrm>
          <a:prstGeom prst="rect">
            <a:avLst/>
          </a:prstGeom>
          <a:solidFill>
            <a:srgbClr val="0D1117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544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/notifications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4544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9560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Send Follow-up button → notification appears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532120"/>
            <a:ext cx="5577840" cy="914400"/>
          </a:xfrm>
          <a:prstGeom prst="rect">
            <a:avLst/>
          </a:prstGeom>
          <a:solidFill>
            <a:srgbClr val="0D1117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596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/federation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5596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0076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Click BRICS node → model exchange stats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5532120"/>
            <a:ext cx="5577840" cy="914400"/>
          </a:xfrm>
          <a:prstGeom prst="rect">
            <a:avLst/>
          </a:prstGeom>
          <a:solidFill>
            <a:srgbClr val="0D1117"/>
          </a:solidFill>
          <a:ln w="101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5596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/audit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5596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60076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Search APPROVED → export 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</a:rPr>
              <a:t>From Hackathon to National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669280" cy="3657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669280" cy="1051560"/>
          </a:xfrm>
          <a:prstGeom prst="rect">
            <a:avLst/>
          </a:prstGeom>
          <a:solidFill>
            <a:srgbClr val="0D111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Phase 1  ·  Months 1-6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339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Pilot in 3 districts · Real Speech-to-Text + Gemini integration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97480"/>
            <a:ext cx="5669280" cy="105156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Phase 2  ·  Months 7-18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2783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Scale to 50 districts · Full Vertex AI pipeline · GCP production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5669280" cy="105156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Phase 3  ·  Year 2-3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6227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BRICS federation live · Brazil + India nodes · Open data published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005840"/>
            <a:ext cx="5486400" cy="365760"/>
          </a:xfrm>
          <a:prstGeom prst="rect">
            <a:avLst/>
          </a:prstGeom>
          <a:solidFill>
            <a:srgbClr val="062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IMPACT AT SCALE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463040"/>
            <a:ext cx="5486400" cy="777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</a:rPr>
              <a:t>500M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urban citizens covered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377440"/>
            <a:ext cx="5486400" cy="777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423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</a:rPr>
              <a:t>₹500Cr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60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annual infra spend better targeted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291840"/>
            <a:ext cx="5486400" cy="777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3375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</a:rPr>
              <a:t>70%+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loop closure rate achieved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206240"/>
            <a:ext cx="5486400" cy="777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5195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389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languages · voice-first access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20640"/>
            <a:ext cx="11274552" cy="137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1F5F9"/>
                </a:solidFill>
              </a:rPr>
              <a:t>"PragatiLoop turns citizen frustration into government intelligence 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6366F1"/>
                </a:solidFill>
              </a:rPr>
              <a:t>and government investment into citizen trust."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🏆  PragatiLoop  ·  BRICS Track 1  ·  Apache 2.0 Open Source  ·  github.com/pragatiloop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